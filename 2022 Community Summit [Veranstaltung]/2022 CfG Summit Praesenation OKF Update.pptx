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 bwMode="auto"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" name="Google Shape;11;p2"/>
          <p:cNvSpPr/>
          <p:nvPr/>
        </p:nvSpPr>
        <p:spPr bwMode="auto">
          <a:xfrm>
            <a:off x="2992950" y="992700"/>
            <a:ext cx="3158100" cy="31581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 bwMode="auto">
          <a:xfrm>
            <a:off x="3096249" y="1627200"/>
            <a:ext cx="2951399" cy="15842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2"/>
          <p:cNvSpPr txBox="1"/>
          <p:nvPr>
            <p:ph type="subTitle" idx="1"/>
          </p:nvPr>
        </p:nvSpPr>
        <p:spPr bwMode="auto">
          <a:xfrm>
            <a:off x="3096362" y="3266929"/>
            <a:ext cx="2951399" cy="701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2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bg>
      <p:bgPr shadeToTitle="0">
        <a:solidFill>
          <a:schemeClr val="dk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 bwMode="auto">
          <a:xfrm>
            <a:off x="509549" y="1423874"/>
            <a:ext cx="8124899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3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 bwMode="auto">
          <a:xfrm>
            <a:off x="0" y="5045699"/>
            <a:ext cx="9144000" cy="977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 bwMode="auto">
          <a:xfrm>
            <a:off x="311699" y="391349"/>
            <a:ext cx="8520599" cy="626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4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 bwMode="auto">
          <a:xfrm>
            <a:off x="311699" y="391349"/>
            <a:ext cx="8520599" cy="626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5"/>
          <p:cNvSpPr txBox="1"/>
          <p:nvPr>
            <p:ph type="body" idx="1"/>
          </p:nvPr>
        </p:nvSpPr>
        <p:spPr bwMode="auto">
          <a:xfrm>
            <a:off x="311699" y="1152474"/>
            <a:ext cx="39998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5"/>
          <p:cNvSpPr txBox="1"/>
          <p:nvPr>
            <p:ph type="body" idx="2"/>
          </p:nvPr>
        </p:nvSpPr>
        <p:spPr bwMode="auto">
          <a:xfrm>
            <a:off x="4832399" y="1152474"/>
            <a:ext cx="39998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5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 bwMode="auto">
          <a:xfrm>
            <a:off x="311699" y="391349"/>
            <a:ext cx="8520599" cy="626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6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 bwMode="auto">
          <a:xfrm>
            <a:off x="311699" y="555599"/>
            <a:ext cx="2808000" cy="755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7"/>
          <p:cNvSpPr txBox="1"/>
          <p:nvPr>
            <p:ph type="body" idx="1"/>
          </p:nvPr>
        </p:nvSpPr>
        <p:spPr bwMode="auto">
          <a:xfrm>
            <a:off x="311699" y="1391377"/>
            <a:ext cx="2808000" cy="3179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7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userDrawn="1">
  <p:cSld name="MAIN_POINT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 bwMode="auto">
          <a:xfrm>
            <a:off x="490249" y="526349"/>
            <a:ext cx="5618699" cy="4090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8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 bwMode="auto">
          <a:xfrm>
            <a:off x="4572000" y="-24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40" name="Google Shape;40;p9"/>
          <p:cNvCxnSpPr>
            <a:cxnSpLocks/>
          </p:cNvCxnSpPr>
          <p:nvPr/>
        </p:nvCxnSpPr>
        <p:spPr bwMode="auto">
          <a:xfrm>
            <a:off x="5029674" y="4495500"/>
            <a:ext cx="46829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 bwMode="auto">
          <a:xfrm>
            <a:off x="265500" y="1107949"/>
            <a:ext cx="4045199" cy="16835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9"/>
          <p:cNvSpPr txBox="1"/>
          <p:nvPr>
            <p:ph type="subTitle" idx="1"/>
          </p:nvPr>
        </p:nvSpPr>
        <p:spPr bwMode="auto">
          <a:xfrm>
            <a:off x="265500" y="2845200"/>
            <a:ext cx="4045199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9"/>
          <p:cNvSpPr txBox="1"/>
          <p:nvPr>
            <p:ph type="body" idx="2"/>
          </p:nvPr>
        </p:nvSpPr>
        <p:spPr bwMode="auto">
          <a:xfrm>
            <a:off x="4939499" y="724199"/>
            <a:ext cx="3836999" cy="3695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9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body" idx="1"/>
          </p:nvPr>
        </p:nvSpPr>
        <p:spPr bwMode="auto">
          <a:xfrm>
            <a:off x="319500" y="4230574"/>
            <a:ext cx="5998799" cy="598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7" name="Google Shape;47;p10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 bwMode="auto">
          <a:xfrm>
            <a:off x="0" y="5045699"/>
            <a:ext cx="9144000" cy="977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0" name="Google Shape;50;p11"/>
          <p:cNvSpPr txBox="1"/>
          <p:nvPr>
            <p:ph type="title" hasCustomPrompt="1"/>
          </p:nvPr>
        </p:nvSpPr>
        <p:spPr bwMode="auto">
          <a:xfrm>
            <a:off x="311699" y="1233099"/>
            <a:ext cx="8520599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1" name="Google Shape;51;p11"/>
          <p:cNvSpPr txBox="1"/>
          <p:nvPr>
            <p:ph type="body" idx="1"/>
          </p:nvPr>
        </p:nvSpPr>
        <p:spPr bwMode="auto">
          <a:xfrm>
            <a:off x="311699" y="2919449"/>
            <a:ext cx="8520599" cy="1071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1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coral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311699" y="391349"/>
            <a:ext cx="8520599" cy="62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/>
          <p:nvPr>
            <p:ph type="sldNum" idx="12"/>
          </p:nvPr>
        </p:nvSpPr>
        <p:spPr bwMode="auto">
          <a:xfrm>
            <a:off x="8490249" y="4681008"/>
            <a:ext cx="548699" cy="39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de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 bwMode="auto">
          <a:xfrm>
            <a:off x="3096300" y="15538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CfG - Summit</a:t>
            </a:r>
            <a:endParaRPr/>
          </a:p>
        </p:txBody>
      </p:sp>
      <p:sp>
        <p:nvSpPr>
          <p:cNvPr id="60" name="Google Shape;60;p13"/>
          <p:cNvSpPr txBox="1"/>
          <p:nvPr>
            <p:ph type="subTitle" idx="1"/>
          </p:nvPr>
        </p:nvSpPr>
        <p:spPr bwMode="auto">
          <a:xfrm>
            <a:off x="3096300" y="2503598"/>
            <a:ext cx="2951400" cy="6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 sz="2800">
                <a:latin typeface="Lato"/>
                <a:ea typeface="Lato"/>
                <a:cs typeface="Lato"/>
              </a:rPr>
              <a:t>Willkommen! :)</a:t>
            </a:r>
            <a:endParaRPr sz="2800">
              <a:latin typeface="Lato"/>
              <a:ea typeface="Lato"/>
              <a:cs typeface="Lato"/>
            </a:endParaRPr>
          </a:p>
        </p:txBody>
      </p:sp>
      <p:pic>
        <p:nvPicPr>
          <p:cNvPr id="61" name="Google Shape;61;p13" descr="CFG_500x500.jpg"/>
          <p:cNvPicPr/>
          <p:nvPr/>
        </p:nvPicPr>
        <p:blipFill>
          <a:blip r:embed="rId2">
            <a:alphaModFix/>
          </a:blip>
          <a:srcRect l="12595" t="23417" r="11709" b="20370"/>
          <a:stretch/>
        </p:blipFill>
        <p:spPr bwMode="auto">
          <a:xfrm>
            <a:off x="6815938" y="369167"/>
            <a:ext cx="1951925" cy="1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 bwMode="auto"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>
                <a:latin typeface="Lato"/>
                <a:ea typeface="Lato"/>
                <a:cs typeface="Lato"/>
              </a:rPr>
              <a:t>Programm</a:t>
            </a:r>
            <a:endParaRPr>
              <a:latin typeface="Lato"/>
              <a:ea typeface="Lato"/>
              <a:cs typeface="Lato"/>
            </a:endParaRPr>
          </a:p>
        </p:txBody>
      </p:sp>
      <p:sp>
        <p:nvSpPr>
          <p:cNvPr id="67" name="Google Shape;67;p14"/>
          <p:cNvSpPr txBox="1"/>
          <p:nvPr>
            <p:ph type="body" idx="1"/>
          </p:nvPr>
        </p:nvSpPr>
        <p:spPr bwMode="auto">
          <a:xfrm>
            <a:off x="311700" y="568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endParaRPr sz="1400" b="1">
              <a:solidFill>
                <a:srgbClr val="485365"/>
              </a:solidFill>
            </a:endParaRPr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10:30 ankommen und selbst-testen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11:00 Hallo, Vorstellungsrunde</a:t>
            </a:r>
            <a:endParaRPr sz="1400"/>
          </a:p>
          <a:p>
            <a:pPr marL="9017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11:15 Nora &amp; Sonja stellen Programm vor</a:t>
            </a:r>
            <a:endParaRPr sz="1400"/>
          </a:p>
          <a:p>
            <a:pPr marL="9017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11:30 Nora und Sonja stellen OKF-Updates &amp; Planung vor, dazwischen Anmerkungen &amp; Feedback</a:t>
            </a:r>
            <a:endParaRPr sz="1400"/>
          </a:p>
          <a:p>
            <a:pPr marL="9017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12:00 Input im Plenum</a:t>
            </a:r>
            <a:endParaRPr sz="1400"/>
          </a:p>
          <a:p>
            <a:pPr marL="13335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12:00 Klimawatch  (Andreas/aku) </a:t>
            </a:r>
            <a:endParaRPr sz="1400"/>
          </a:p>
          <a:p>
            <a:pPr marL="13335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12:15 Kulturdaten (Wolfram)</a:t>
            </a:r>
            <a:endParaRPr sz="1400"/>
          </a:p>
          <a:p>
            <a:pPr marL="9017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12:30 Pitches für Arbeitsgruppen nach der Mittagspause</a:t>
            </a:r>
            <a:endParaRPr sz="1400"/>
          </a:p>
          <a:p>
            <a:pPr marL="13335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12:30 LOD (Andi)</a:t>
            </a:r>
            <a:endParaRPr sz="1400"/>
          </a:p>
          <a:p>
            <a:pPr marL="13335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12:40 Wiki umziehen &amp; Webseite-Wünsche sammeln (Jörg)</a:t>
            </a:r>
            <a:endParaRPr sz="1400"/>
          </a:p>
          <a:p>
            <a:pPr marL="13335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None/>
              <a:defRPr/>
            </a:pPr>
            <a:r>
              <a:rPr lang="de" sz="1400"/>
              <a:t>12:50 Berlin Vortragsformat (Jochen)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13:00 Mittagspause beginnt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14:30 Teilung in Arbeitsgruppen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16:30 Wrap up, Vorstellen der Ergebnisse im Plenum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  <a:defRPr/>
            </a:pPr>
            <a:r>
              <a:rPr lang="de" sz="1400"/>
              <a:t>	17:00 Ende</a:t>
            </a:r>
            <a:endParaRPr sz="1400"/>
          </a:p>
          <a:p>
            <a:pPr marL="0" lv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523"/>
              <a:buNone/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 bwMode="auto">
          <a:xfrm>
            <a:off x="3303600" y="2061450"/>
            <a:ext cx="2536800" cy="10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 sz="3600"/>
              <a:t>Momentaufnahme - 04-08.2022</a:t>
            </a:r>
            <a:endParaRPr sz="3600">
              <a:latin typeface="Lato"/>
              <a:ea typeface="Lato"/>
              <a:cs typeface="Lato"/>
            </a:endParaRPr>
          </a:p>
        </p:txBody>
      </p:sp>
      <p:pic>
        <p:nvPicPr>
          <p:cNvPr id="73" name="Google Shape;73;p15" descr="CFG_500x500.jpg"/>
          <p:cNvPicPr/>
          <p:nvPr/>
        </p:nvPicPr>
        <p:blipFill>
          <a:blip r:embed="rId2">
            <a:alphaModFix/>
          </a:blip>
          <a:srcRect l="12595" t="23417" r="11709" b="20370"/>
          <a:stretch/>
        </p:blipFill>
        <p:spPr bwMode="auto">
          <a:xfrm>
            <a:off x="6815938" y="369167"/>
            <a:ext cx="1951925" cy="13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 bwMode="auto">
          <a:xfrm>
            <a:off x="3879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 sz="3100">
                <a:latin typeface="Lato"/>
                <a:ea typeface="Lato"/>
                <a:cs typeface="Lato"/>
              </a:rPr>
              <a:t>Dokumentation</a:t>
            </a:r>
            <a:endParaRPr sz="3100">
              <a:latin typeface="Lato"/>
              <a:ea typeface="Lato"/>
              <a:cs typeface="Lato"/>
            </a:endParaRPr>
          </a:p>
        </p:txBody>
      </p:sp>
      <p:pic>
        <p:nvPicPr>
          <p:cNvPr id="79" name="Google Shape;79;p1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3698925" y="546149"/>
            <a:ext cx="4385750" cy="17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572000" y="1890324"/>
            <a:ext cx="4392316" cy="18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387900" y="2571750"/>
            <a:ext cx="3896274" cy="19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 bwMode="auto">
          <a:xfrm>
            <a:off x="8145975" y="3972525"/>
            <a:ext cx="906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>
                <a:solidFill>
                  <a:schemeClr val="dk1"/>
                </a:solidFill>
                <a:latin typeface="Lato"/>
                <a:ea typeface="Lato"/>
                <a:cs typeface="Lato"/>
              </a:rPr>
              <a:t>Lab Liste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>
                <a:solidFill>
                  <a:schemeClr val="dk1"/>
                </a:solidFill>
                <a:latin typeface="Lato"/>
                <a:ea typeface="Lato"/>
                <a:cs typeface="Lato"/>
              </a:rPr>
              <a:t>				</a:t>
            </a:r>
            <a:endParaRPr strike="sngStrike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3" name="Google Shape;83;p16"/>
          <p:cNvSpPr txBox="1"/>
          <p:nvPr/>
        </p:nvSpPr>
        <p:spPr bwMode="auto">
          <a:xfrm>
            <a:off x="374499" y="2007225"/>
            <a:ext cx="1981559" cy="396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>
                <a:solidFill>
                  <a:schemeClr val="dk1"/>
                </a:solidFill>
                <a:latin typeface="Lato"/>
                <a:ea typeface="Lato"/>
                <a:cs typeface="Lato"/>
              </a:rPr>
              <a:t>Gesprächsprotokolle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body" idx="1"/>
          </p:nvPr>
        </p:nvSpPr>
        <p:spPr bwMode="auto"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de"/>
              <a:t>Was passierte mit dem Rest? Wo sind die 400?</a:t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 bwMode="auto"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18 Labs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 bwMode="auto">
          <a:xfrm>
            <a:off x="265500" y="1107950"/>
            <a:ext cx="4045199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>
                <a:latin typeface="Lato"/>
                <a:ea typeface="Lato"/>
                <a:cs typeface="Lato"/>
              </a:rPr>
              <a:t>Auswertung</a:t>
            </a:r>
            <a:endParaRPr>
              <a:latin typeface="Lato"/>
              <a:ea typeface="Lato"/>
              <a:cs typeface="Lato"/>
            </a:endParaRPr>
          </a:p>
        </p:txBody>
      </p:sp>
      <p:sp>
        <p:nvSpPr>
          <p:cNvPr id="95" name="Google Shape;95;p18"/>
          <p:cNvSpPr txBox="1"/>
          <p:nvPr>
            <p:ph type="subTitle" idx="1"/>
          </p:nvPr>
        </p:nvSpPr>
        <p:spPr bwMode="auto">
          <a:xfrm>
            <a:off x="265500" y="2845201"/>
            <a:ext cx="4045199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Und Diskussion</a:t>
            </a:r>
            <a:endParaRPr/>
          </a:p>
        </p:txBody>
      </p:sp>
      <p:pic>
        <p:nvPicPr>
          <p:cNvPr id="96" name="Google Shape;96;p1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290152" y="317725"/>
            <a:ext cx="3215298" cy="38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 bwMode="auto">
          <a:xfrm>
            <a:off x="509550" y="15762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Deutschlandweite Community &lt;-&gt; 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regionale Gruppen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 bwMode="auto"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Nachwuchs bzw. wollen wir den überhaupt?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 bwMode="auto"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Strategien und wie entwickeln wir die?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 bwMode="auto"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Wissensspeicher, </a:t>
            </a:r>
            <a:r>
              <a:rPr lang="de"/>
              <a:t>Kommunikation</a:t>
            </a:r>
            <a:r>
              <a:rPr lang="de"/>
              <a:t> und Events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body" idx="1"/>
          </p:nvPr>
        </p:nvSpPr>
        <p:spPr bwMode="auto">
          <a:xfrm>
            <a:off x="904850" y="425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de"/>
              <a:t>Jahresplanung</a:t>
            </a:r>
            <a:endParaRPr/>
          </a:p>
        </p:txBody>
      </p:sp>
      <p:pic>
        <p:nvPicPr>
          <p:cNvPr id="122" name="Google Shape;122;p2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981038" y="230825"/>
            <a:ext cx="7943925" cy="399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ONLYOFFICE/7.4.1.36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